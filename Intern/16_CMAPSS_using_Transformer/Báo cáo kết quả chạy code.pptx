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6" r:id="rId11"/>
    <p:sldId id="267" r:id="rId1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834"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AD731-A2E7-3D71-D1BF-24FDC49028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E56986FC-CDBE-4036-F035-B2A0719231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25C25435-43E5-5CDB-54DA-E302B7EBBBBF}"/>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5" name="Footer Placeholder 4">
            <a:extLst>
              <a:ext uri="{FF2B5EF4-FFF2-40B4-BE49-F238E27FC236}">
                <a16:creationId xmlns:a16="http://schemas.microsoft.com/office/drawing/2014/main" id="{2B8CD4AD-BDC3-55F5-0F9E-855D75CE63B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CFB6BF12-6946-5D94-C306-D95006186ACB}"/>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1781588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2BE9A-D03C-8771-331C-BC887F30FB1D}"/>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C86C833E-4B4E-C761-0319-911B9A4B2F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993F755-FDB7-EF44-05B5-494660D98FAC}"/>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5" name="Footer Placeholder 4">
            <a:extLst>
              <a:ext uri="{FF2B5EF4-FFF2-40B4-BE49-F238E27FC236}">
                <a16:creationId xmlns:a16="http://schemas.microsoft.com/office/drawing/2014/main" id="{4DF05C8F-5164-E9CA-7AB6-504B114D61E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A722A27-1253-D3B7-74F6-D0A6E0A82665}"/>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823069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4AFC-30E3-C937-968B-D317FF483C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078A6812-6676-F2EF-F008-7ECDF927CA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49C4F5-C66C-F7EB-323F-B283684E10F7}"/>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5" name="Footer Placeholder 4">
            <a:extLst>
              <a:ext uri="{FF2B5EF4-FFF2-40B4-BE49-F238E27FC236}">
                <a16:creationId xmlns:a16="http://schemas.microsoft.com/office/drawing/2014/main" id="{71E6A9B3-9AAE-4F5B-277E-F5E57C2C276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7D27E32-0904-B35D-ED5E-E03CDF2CBBE1}"/>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168846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B0EA-3666-D2C8-2FF6-F4DD4536D29A}"/>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C9A38BE2-3491-7D51-7800-7010E3AB5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7671A676-3D86-DFC5-4132-BEAB2008A3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E1340376-621A-A488-D314-74A0E17712CF}"/>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6" name="Footer Placeholder 5">
            <a:extLst>
              <a:ext uri="{FF2B5EF4-FFF2-40B4-BE49-F238E27FC236}">
                <a16:creationId xmlns:a16="http://schemas.microsoft.com/office/drawing/2014/main" id="{83DD827B-1A6B-8405-D9FF-469F669785C7}"/>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F62674DE-69B2-0FD7-1718-2FE7AB27847A}"/>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2643356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28AB8-FA50-CECF-E37B-BA6E8FAA4234}"/>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5FD655F9-F632-8CA6-D6D4-B0C9AF60DB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95CA9C-3EF2-1051-414B-85B5E068B3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97482BB2-34F6-B80D-A9B6-45DC5805C9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737077-B912-8F41-33D1-1FFB3F6CEB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93BC126D-3F34-8143-AF2A-EC0666DF7952}"/>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8" name="Footer Placeholder 7">
            <a:extLst>
              <a:ext uri="{FF2B5EF4-FFF2-40B4-BE49-F238E27FC236}">
                <a16:creationId xmlns:a16="http://schemas.microsoft.com/office/drawing/2014/main" id="{29106089-6296-2B1B-0E26-3CA8DC47B83F}"/>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A769AF49-85F7-975C-B2EE-FA5D6D9A1A97}"/>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2003771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4455C-27E4-3B51-915A-2B0678D01A3B}"/>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132BF3C9-9459-7AD0-10FF-C588F7EC6531}"/>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4" name="Footer Placeholder 3">
            <a:extLst>
              <a:ext uri="{FF2B5EF4-FFF2-40B4-BE49-F238E27FC236}">
                <a16:creationId xmlns:a16="http://schemas.microsoft.com/office/drawing/2014/main" id="{EB7D6E5A-9335-E122-4083-A374197FAA61}"/>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710A36A0-2416-021F-5DC7-407E178E8A34}"/>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737859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51AB32-110D-2507-C86C-8B76280410B6}"/>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3" name="Footer Placeholder 2">
            <a:extLst>
              <a:ext uri="{FF2B5EF4-FFF2-40B4-BE49-F238E27FC236}">
                <a16:creationId xmlns:a16="http://schemas.microsoft.com/office/drawing/2014/main" id="{DD3E7DC4-9AAF-6627-34A2-4E645AC5107A}"/>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59D2416A-1125-7C98-05D1-D1946629BE79}"/>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1527439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F19A5-81A9-B3EE-8BC0-7B16120FF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ED63D173-2B64-D419-2F20-32D9759C90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F2192CF6-CCCF-EB6C-5E30-F7F95C43D2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56378C-B692-C846-DCB4-1C94D5B9FD6C}"/>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6" name="Footer Placeholder 5">
            <a:extLst>
              <a:ext uri="{FF2B5EF4-FFF2-40B4-BE49-F238E27FC236}">
                <a16:creationId xmlns:a16="http://schemas.microsoft.com/office/drawing/2014/main" id="{DA01D22E-568A-043C-B164-CB03CEA06573}"/>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C769829F-A573-A10F-CCAB-FB0E5EC9D52D}"/>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671162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355E4-1A2D-50CC-11D1-75677E9CF9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6F83751B-E8E1-025E-1491-51B71DC58F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37B9AD30-A014-FAB5-2C31-1A060D590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8BAB2B-B8D5-4238-5F7E-93CC3705A37E}"/>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6" name="Footer Placeholder 5">
            <a:extLst>
              <a:ext uri="{FF2B5EF4-FFF2-40B4-BE49-F238E27FC236}">
                <a16:creationId xmlns:a16="http://schemas.microsoft.com/office/drawing/2014/main" id="{B1D8512D-C2F5-EB7D-0B7D-0A070C526241}"/>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07570C5-1830-5979-5AF1-50CC026439D6}"/>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392715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1A559-A18E-5E80-6A38-90B7B721905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A8C237A9-9378-7C95-D4A8-087D682659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37468D91-02A7-1E98-8BF3-259044A14D2A}"/>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5" name="Footer Placeholder 4">
            <a:extLst>
              <a:ext uri="{FF2B5EF4-FFF2-40B4-BE49-F238E27FC236}">
                <a16:creationId xmlns:a16="http://schemas.microsoft.com/office/drawing/2014/main" id="{A8A3616C-EE17-EB1C-ACF5-BC0910498ED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1D970FB-284E-CDAF-AF28-2CD93A5A9F3F}"/>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2175840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6ACE29-D5A8-039D-BA31-54714B3602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A1DAF57-5CC2-EAED-CE3A-569C764EE2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7F093DE-80FB-46BB-0144-9EC97AC14B9A}"/>
              </a:ext>
            </a:extLst>
          </p:cNvPr>
          <p:cNvSpPr>
            <a:spLocks noGrp="1"/>
          </p:cNvSpPr>
          <p:nvPr>
            <p:ph type="dt" sz="half" idx="10"/>
          </p:nvPr>
        </p:nvSpPr>
        <p:spPr/>
        <p:txBody>
          <a:bodyPr/>
          <a:lstStyle/>
          <a:p>
            <a:fld id="{801DF5A0-0158-4E0E-BBDB-4D5610A0D6A1}" type="datetimeFigureOut">
              <a:rPr lang="vi-VN" smtClean="0"/>
              <a:t>12/02/2025</a:t>
            </a:fld>
            <a:endParaRPr lang="vi-VN"/>
          </a:p>
        </p:txBody>
      </p:sp>
      <p:sp>
        <p:nvSpPr>
          <p:cNvPr id="5" name="Footer Placeholder 4">
            <a:extLst>
              <a:ext uri="{FF2B5EF4-FFF2-40B4-BE49-F238E27FC236}">
                <a16:creationId xmlns:a16="http://schemas.microsoft.com/office/drawing/2014/main" id="{ECA2C2A6-66E9-35A4-662D-321243FD38D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C974D99A-AC94-139B-3DD4-676C71EAEB50}"/>
              </a:ext>
            </a:extLst>
          </p:cNvPr>
          <p:cNvSpPr>
            <a:spLocks noGrp="1"/>
          </p:cNvSpPr>
          <p:nvPr>
            <p:ph type="sldNum" sz="quarter" idx="12"/>
          </p:nvPr>
        </p:nvSpPr>
        <p:spPr/>
        <p:txBody>
          <a:bodyPr/>
          <a:lstStyle/>
          <a:p>
            <a:fld id="{61B3F6C5-B2E3-40AF-BECD-BA1BEE5499BD}" type="slidenum">
              <a:rPr lang="vi-VN" smtClean="0"/>
              <a:t>‹#›</a:t>
            </a:fld>
            <a:endParaRPr lang="vi-VN"/>
          </a:p>
        </p:txBody>
      </p:sp>
    </p:spTree>
    <p:extLst>
      <p:ext uri="{BB962C8B-B14F-4D97-AF65-F5344CB8AC3E}">
        <p14:creationId xmlns:p14="http://schemas.microsoft.com/office/powerpoint/2010/main" val="899964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02A0D2-3436-AF4D-F774-A2E80899ED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E95C9585-6350-ADBA-590D-865A36818E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345ABD6-9E2E-B810-F564-FBFFED06F0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1DF5A0-0158-4E0E-BBDB-4D5610A0D6A1}" type="datetimeFigureOut">
              <a:rPr lang="vi-VN" smtClean="0"/>
              <a:t>12/02/2025</a:t>
            </a:fld>
            <a:endParaRPr lang="vi-VN"/>
          </a:p>
        </p:txBody>
      </p:sp>
      <p:sp>
        <p:nvSpPr>
          <p:cNvPr id="5" name="Footer Placeholder 4">
            <a:extLst>
              <a:ext uri="{FF2B5EF4-FFF2-40B4-BE49-F238E27FC236}">
                <a16:creationId xmlns:a16="http://schemas.microsoft.com/office/drawing/2014/main" id="{1C034B03-4D70-2EBF-ECA7-CD16500899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05D27A52-7875-6240-6C75-9273ECC303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B3F6C5-B2E3-40AF-BECD-BA1BEE5499BD}" type="slidenum">
              <a:rPr lang="vi-VN" smtClean="0"/>
              <a:t>‹#›</a:t>
            </a:fld>
            <a:endParaRPr lang="vi-VN"/>
          </a:p>
        </p:txBody>
      </p:sp>
    </p:spTree>
    <p:extLst>
      <p:ext uri="{BB962C8B-B14F-4D97-AF65-F5344CB8AC3E}">
        <p14:creationId xmlns:p14="http://schemas.microsoft.com/office/powerpoint/2010/main" val="2025323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6B1B34A-A251-6B3A-52C8-0D145271BC23}"/>
              </a:ext>
            </a:extLst>
          </p:cNvPr>
          <p:cNvSpPr txBox="1"/>
          <p:nvPr/>
        </p:nvSpPr>
        <p:spPr>
          <a:xfrm>
            <a:off x="838200" y="1122362"/>
            <a:ext cx="6281928" cy="413543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BÁO CÁO KẾT QUẢ THỰC HIỆN CODE</a:t>
            </a:r>
          </a:p>
        </p:txBody>
      </p:sp>
      <p:sp>
        <p:nvSpPr>
          <p:cNvPr id="9" name="Rectangle 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onnsiteX0" fmla="*/ 0 w 3647661"/>
              <a:gd name="connsiteY0" fmla="*/ 0 h 4436126"/>
              <a:gd name="connsiteX1" fmla="*/ 498514 w 3647661"/>
              <a:gd name="connsiteY1" fmla="*/ 0 h 4436126"/>
              <a:gd name="connsiteX2" fmla="*/ 1069981 w 3647661"/>
              <a:gd name="connsiteY2" fmla="*/ 0 h 4436126"/>
              <a:gd name="connsiteX3" fmla="*/ 1714401 w 3647661"/>
              <a:gd name="connsiteY3" fmla="*/ 0 h 4436126"/>
              <a:gd name="connsiteX4" fmla="*/ 2285868 w 3647661"/>
              <a:gd name="connsiteY4" fmla="*/ 0 h 4436126"/>
              <a:gd name="connsiteX5" fmla="*/ 2784381 w 3647661"/>
              <a:gd name="connsiteY5" fmla="*/ 0 h 4436126"/>
              <a:gd name="connsiteX6" fmla="*/ 3647661 w 3647661"/>
              <a:gd name="connsiteY6" fmla="*/ 0 h 4436126"/>
              <a:gd name="connsiteX7" fmla="*/ 3647661 w 3647661"/>
              <a:gd name="connsiteY7" fmla="*/ 633732 h 4436126"/>
              <a:gd name="connsiteX8" fmla="*/ 3647661 w 3647661"/>
              <a:gd name="connsiteY8" fmla="*/ 1267465 h 4436126"/>
              <a:gd name="connsiteX9" fmla="*/ 3647661 w 3647661"/>
              <a:gd name="connsiteY9" fmla="*/ 1768113 h 4436126"/>
              <a:gd name="connsiteX10" fmla="*/ 3647661 w 3647661"/>
              <a:gd name="connsiteY10" fmla="*/ 2446207 h 4436126"/>
              <a:gd name="connsiteX11" fmla="*/ 3647661 w 3647661"/>
              <a:gd name="connsiteY11" fmla="*/ 2946855 h 4436126"/>
              <a:gd name="connsiteX12" fmla="*/ 3647661 w 3647661"/>
              <a:gd name="connsiteY12" fmla="*/ 3580587 h 4436126"/>
              <a:gd name="connsiteX13" fmla="*/ 3647661 w 3647661"/>
              <a:gd name="connsiteY13" fmla="*/ 4436126 h 4436126"/>
              <a:gd name="connsiteX14" fmla="*/ 3039718 w 3647661"/>
              <a:gd name="connsiteY14" fmla="*/ 4436126 h 4436126"/>
              <a:gd name="connsiteX15" fmla="*/ 2431774 w 3647661"/>
              <a:gd name="connsiteY15" fmla="*/ 4436126 h 4436126"/>
              <a:gd name="connsiteX16" fmla="*/ 1823831 w 3647661"/>
              <a:gd name="connsiteY16" fmla="*/ 4436126 h 4436126"/>
              <a:gd name="connsiteX17" fmla="*/ 1288840 w 3647661"/>
              <a:gd name="connsiteY17" fmla="*/ 4436126 h 4436126"/>
              <a:gd name="connsiteX18" fmla="*/ 607943 w 3647661"/>
              <a:gd name="connsiteY18" fmla="*/ 4436126 h 4436126"/>
              <a:gd name="connsiteX19" fmla="*/ 0 w 3647661"/>
              <a:gd name="connsiteY19" fmla="*/ 4436126 h 4436126"/>
              <a:gd name="connsiteX20" fmla="*/ 0 w 3647661"/>
              <a:gd name="connsiteY20" fmla="*/ 3758032 h 4436126"/>
              <a:gd name="connsiteX21" fmla="*/ 0 w 3647661"/>
              <a:gd name="connsiteY21" fmla="*/ 3035578 h 4436126"/>
              <a:gd name="connsiteX22" fmla="*/ 0 w 3647661"/>
              <a:gd name="connsiteY22" fmla="*/ 2401845 h 4436126"/>
              <a:gd name="connsiteX23" fmla="*/ 0 w 3647661"/>
              <a:gd name="connsiteY23" fmla="*/ 1768113 h 4436126"/>
              <a:gd name="connsiteX24" fmla="*/ 0 w 3647661"/>
              <a:gd name="connsiteY24" fmla="*/ 1178742 h 4436126"/>
              <a:gd name="connsiteX25" fmla="*/ 0 w 3647661"/>
              <a:gd name="connsiteY25" fmla="*/ 589371 h 4436126"/>
              <a:gd name="connsiteX26" fmla="*/ 0 w 3647661"/>
              <a:gd name="connsiteY26"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onnsiteX0" fmla="*/ 0 w 6281928"/>
              <a:gd name="connsiteY0" fmla="*/ 0 h 18288"/>
              <a:gd name="connsiteX1" fmla="*/ 572353 w 6281928"/>
              <a:gd name="connsiteY1" fmla="*/ 0 h 18288"/>
              <a:gd name="connsiteX2" fmla="*/ 1207526 w 6281928"/>
              <a:gd name="connsiteY2" fmla="*/ 0 h 18288"/>
              <a:gd name="connsiteX3" fmla="*/ 1779880 w 6281928"/>
              <a:gd name="connsiteY3" fmla="*/ 0 h 18288"/>
              <a:gd name="connsiteX4" fmla="*/ 2540691 w 6281928"/>
              <a:gd name="connsiteY4" fmla="*/ 0 h 18288"/>
              <a:gd name="connsiteX5" fmla="*/ 3238683 w 6281928"/>
              <a:gd name="connsiteY5" fmla="*/ 0 h 18288"/>
              <a:gd name="connsiteX6" fmla="*/ 3936675 w 6281928"/>
              <a:gd name="connsiteY6" fmla="*/ 0 h 18288"/>
              <a:gd name="connsiteX7" fmla="*/ 4760305 w 6281928"/>
              <a:gd name="connsiteY7" fmla="*/ 0 h 18288"/>
              <a:gd name="connsiteX8" fmla="*/ 5521117 w 6281928"/>
              <a:gd name="connsiteY8" fmla="*/ 0 h 18288"/>
              <a:gd name="connsiteX9" fmla="*/ 6281928 w 6281928"/>
              <a:gd name="connsiteY9" fmla="*/ 0 h 18288"/>
              <a:gd name="connsiteX10" fmla="*/ 6281928 w 6281928"/>
              <a:gd name="connsiteY10" fmla="*/ 18288 h 18288"/>
              <a:gd name="connsiteX11" fmla="*/ 5772394 w 6281928"/>
              <a:gd name="connsiteY11" fmla="*/ 18288 h 18288"/>
              <a:gd name="connsiteX12" fmla="*/ 5200040 w 6281928"/>
              <a:gd name="connsiteY12" fmla="*/ 18288 h 18288"/>
              <a:gd name="connsiteX13" fmla="*/ 4439229 w 6281928"/>
              <a:gd name="connsiteY13" fmla="*/ 18288 h 18288"/>
              <a:gd name="connsiteX14" fmla="*/ 3615599 w 6281928"/>
              <a:gd name="connsiteY14" fmla="*/ 18288 h 18288"/>
              <a:gd name="connsiteX15" fmla="*/ 2980426 w 6281928"/>
              <a:gd name="connsiteY15" fmla="*/ 18288 h 18288"/>
              <a:gd name="connsiteX16" fmla="*/ 2156795 w 6281928"/>
              <a:gd name="connsiteY16" fmla="*/ 18288 h 18288"/>
              <a:gd name="connsiteX17" fmla="*/ 1584442 w 6281928"/>
              <a:gd name="connsiteY17" fmla="*/ 18288 h 18288"/>
              <a:gd name="connsiteX18" fmla="*/ 1074908 w 6281928"/>
              <a:gd name="connsiteY18" fmla="*/ 18288 h 18288"/>
              <a:gd name="connsiteX19" fmla="*/ 0 w 6281928"/>
              <a:gd name="connsiteY19" fmla="*/ 18288 h 18288"/>
              <a:gd name="connsiteX20" fmla="*/ 0 w 6281928"/>
              <a:gd name="connsiteY2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5239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6357A2-D45B-30EE-C1D0-F79E8EA30C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DA5F026-EF78-3A2A-4B34-7C3901DDF0B7}"/>
              </a:ext>
            </a:extLst>
          </p:cNvPr>
          <p:cNvSpPr txBox="1"/>
          <p:nvPr/>
        </p:nvSpPr>
        <p:spPr>
          <a:xfrm>
            <a:off x="841248" y="548640"/>
            <a:ext cx="3600860" cy="54315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b="1" kern="1200">
                <a:solidFill>
                  <a:schemeClr val="tx1"/>
                </a:solidFill>
                <a:latin typeface="+mj-lt"/>
                <a:ea typeface="+mj-ea"/>
                <a:cs typeface="+mj-cs"/>
              </a:rPr>
              <a:t>Mục tiêu nghiên cứu</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18EABBC-8187-BA63-3D8F-199C434F92D5}"/>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marL="457200" indent="-228600">
              <a:lnSpc>
                <a:spcPct val="90000"/>
              </a:lnSpc>
              <a:spcAft>
                <a:spcPts val="600"/>
              </a:spcAft>
              <a:buFont typeface="Arial" panose="020B0604020202020204" pitchFamily="34" charset="0"/>
              <a:buChar char="•"/>
            </a:pPr>
            <a:r>
              <a:rPr lang="en-US" sz="2000"/>
              <a:t>Áp dụng mô hình Transformer để dự đoán tuổi thọ động cơ</a:t>
            </a:r>
          </a:p>
          <a:p>
            <a:pPr marL="457200" indent="-228600">
              <a:lnSpc>
                <a:spcPct val="90000"/>
              </a:lnSpc>
              <a:spcAft>
                <a:spcPts val="600"/>
              </a:spcAft>
              <a:buFont typeface="Arial" panose="020B0604020202020204" pitchFamily="34" charset="0"/>
              <a:buChar char="•"/>
            </a:pPr>
            <a:r>
              <a:rPr lang="en-US" sz="2000"/>
              <a:t>Độ chính xác đạt mức chấp nhận được</a:t>
            </a:r>
          </a:p>
          <a:p>
            <a:pPr marL="457200" indent="-228600">
              <a:lnSpc>
                <a:spcPct val="90000"/>
              </a:lnSpc>
              <a:spcAft>
                <a:spcPts val="600"/>
              </a:spcAft>
              <a:buFont typeface="Arial" panose="020B0604020202020204" pitchFamily="34" charset="0"/>
              <a:buChar char="•"/>
            </a:pPr>
            <a:r>
              <a:rPr lang="en-US" sz="2000"/>
              <a:t>Training trên khuôn khổ Federated Learning</a:t>
            </a:r>
          </a:p>
          <a:p>
            <a:pPr marL="457200" indent="-228600">
              <a:lnSpc>
                <a:spcPct val="90000"/>
              </a:lnSpc>
              <a:spcAft>
                <a:spcPts val="600"/>
              </a:spcAft>
              <a:buFont typeface="Arial" panose="020B0604020202020204" pitchFamily="34" charset="0"/>
              <a:buChar char="•"/>
            </a:pPr>
            <a:r>
              <a:rPr lang="en-US" sz="2000"/>
              <a:t>Chứng minh rằng Federated Leanring có hiệu quả ngang hoặc vượt trội so với các phương pháp huấn luyện tập trung truyền thống</a:t>
            </a:r>
          </a:p>
          <a:p>
            <a:pPr marL="457200" indent="-228600">
              <a:lnSpc>
                <a:spcPct val="90000"/>
              </a:lnSpc>
              <a:spcAft>
                <a:spcPts val="600"/>
              </a:spcAft>
              <a:buFont typeface="Arial" panose="020B0604020202020204" pitchFamily="34" charset="0"/>
              <a:buChar char="•"/>
            </a:pPr>
            <a:r>
              <a:rPr lang="en-US" sz="2000"/>
              <a:t>Áp dụng được XAI để:</a:t>
            </a:r>
          </a:p>
          <a:p>
            <a:pPr>
              <a:lnSpc>
                <a:spcPct val="90000"/>
              </a:lnSpc>
              <a:spcAft>
                <a:spcPts val="600"/>
              </a:spcAft>
            </a:pPr>
            <a:r>
              <a:rPr lang="en-US" sz="2000"/>
              <a:t>         =&gt; Tìm hiểu các đặc trưng ảnh hưởng như thế nào để kết quả đầu ra của mô hình</a:t>
            </a:r>
          </a:p>
          <a:p>
            <a:pPr>
              <a:lnSpc>
                <a:spcPct val="90000"/>
              </a:lnSpc>
              <a:spcAft>
                <a:spcPts val="600"/>
              </a:spcAft>
            </a:pPr>
            <a:r>
              <a:rPr lang="en-US" sz="2000"/>
              <a:t>         =&gt; Liệu rằng mô hình Transformer có phát hiện ra được các phụ thuộc dài hạn trong việc dự báo trên dữ liệu thời gian không</a:t>
            </a:r>
          </a:p>
          <a:p>
            <a:pPr>
              <a:lnSpc>
                <a:spcPct val="90000"/>
              </a:lnSpc>
              <a:spcAft>
                <a:spcPts val="600"/>
              </a:spcAft>
            </a:pPr>
            <a:r>
              <a:rPr lang="en-US" sz="2000"/>
              <a:t>        =&gt; Một cách tiếp cận mới: 1. dựa trên thử nghiệm các đóng góp của các đặc trưng tại từng thời điểm (timestep). 2. sự đóng góp dựa trên các kết quả từ lớp attention trong kiến trúc model Transformer</a:t>
            </a:r>
          </a:p>
        </p:txBody>
      </p:sp>
    </p:spTree>
    <p:extLst>
      <p:ext uri="{BB962C8B-B14F-4D97-AF65-F5344CB8AC3E}">
        <p14:creationId xmlns:p14="http://schemas.microsoft.com/office/powerpoint/2010/main" val="4252379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35149B-3AEC-B2EB-BBBB-B440F3AAAE7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CF06366-F96E-6C36-E8E4-AAE5B36B0F36}"/>
              </a:ext>
            </a:extLst>
          </p:cNvPr>
          <p:cNvSpPr txBox="1"/>
          <p:nvPr/>
        </p:nvSpPr>
        <p:spPr>
          <a:xfrm>
            <a:off x="1521898" y="436311"/>
            <a:ext cx="4818888" cy="148132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b="1" kern="1200">
                <a:solidFill>
                  <a:schemeClr val="tx1"/>
                </a:solidFill>
                <a:latin typeface="+mj-lt"/>
                <a:ea typeface="+mj-ea"/>
                <a:cs typeface="+mj-cs"/>
              </a:rPr>
              <a:t>Bộ dữ liệu CMAPSS</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57A005-2C87-90D1-61B4-A7FB16A83F3E}"/>
              </a:ext>
            </a:extLst>
          </p:cNvPr>
          <p:cNvSpPr txBox="1"/>
          <p:nvPr/>
        </p:nvSpPr>
        <p:spPr>
          <a:xfrm>
            <a:off x="441434" y="2664162"/>
            <a:ext cx="6243145" cy="3544614"/>
          </a:xfrm>
          <a:prstGeom prst="rect">
            <a:avLst/>
          </a:prstGeom>
        </p:spPr>
        <p:txBody>
          <a:bodyPr vert="horz" lIns="91440" tIns="45720" rIns="91440" bIns="45720" rtlCol="0" anchor="t">
            <a:noAutofit/>
          </a:bodyPr>
          <a:lstStyle/>
          <a:p>
            <a:pPr>
              <a:lnSpc>
                <a:spcPct val="90000"/>
              </a:lnSpc>
              <a:spcAft>
                <a:spcPts val="600"/>
              </a:spcAft>
            </a:pPr>
            <a:r>
              <a:rPr lang="en-US" sz="2000" b="1"/>
              <a:t>Bao gồm:</a:t>
            </a:r>
          </a:p>
          <a:p>
            <a:pPr indent="-228600">
              <a:lnSpc>
                <a:spcPct val="90000"/>
              </a:lnSpc>
              <a:spcAft>
                <a:spcPts val="600"/>
              </a:spcAft>
              <a:buFont typeface="Arial" panose="020B0604020202020204" pitchFamily="34" charset="0"/>
              <a:buChar char="•"/>
            </a:pPr>
            <a:r>
              <a:rPr lang="en-US" sz="2000"/>
              <a:t>Train_FD001, Train_FD002, Train_FD003, Train_FD004</a:t>
            </a:r>
          </a:p>
          <a:p>
            <a:pPr indent="-228600">
              <a:lnSpc>
                <a:spcPct val="90000"/>
              </a:lnSpc>
              <a:spcAft>
                <a:spcPts val="600"/>
              </a:spcAft>
              <a:buFont typeface="Arial" panose="020B0604020202020204" pitchFamily="34" charset="0"/>
              <a:buChar char="•"/>
            </a:pPr>
            <a:r>
              <a:rPr lang="en-US" sz="2000"/>
              <a:t>Test_FD001, Test_FD002, Test_FD003, Test_FD004</a:t>
            </a:r>
          </a:p>
          <a:p>
            <a:pPr indent="-228600">
              <a:lnSpc>
                <a:spcPct val="90000"/>
              </a:lnSpc>
              <a:spcAft>
                <a:spcPts val="600"/>
              </a:spcAft>
              <a:buFont typeface="Arial" panose="020B0604020202020204" pitchFamily="34" charset="0"/>
              <a:buChar char="•"/>
            </a:pPr>
            <a:r>
              <a:rPr lang="en-US" sz="2000"/>
              <a:t>Tập RUL</a:t>
            </a:r>
          </a:p>
          <a:p>
            <a:pPr>
              <a:lnSpc>
                <a:spcPct val="90000"/>
              </a:lnSpc>
              <a:spcAft>
                <a:spcPts val="600"/>
              </a:spcAft>
            </a:pPr>
            <a:r>
              <a:rPr lang="en-US" sz="2000" b="1"/>
              <a:t>Phương pháp:</a:t>
            </a:r>
          </a:p>
          <a:p>
            <a:pPr marL="342900" indent="-228600">
              <a:lnSpc>
                <a:spcPct val="90000"/>
              </a:lnSpc>
              <a:spcAft>
                <a:spcPts val="600"/>
              </a:spcAft>
              <a:buFont typeface="Arial" panose="020B0604020202020204" pitchFamily="34" charset="0"/>
              <a:buChar char="•"/>
            </a:pPr>
            <a:r>
              <a:rPr lang="en-US" sz="2000"/>
              <a:t>Gộp cả 4 bộ data này lại thành một để huấn luyện</a:t>
            </a:r>
          </a:p>
          <a:p>
            <a:pPr marL="342900" indent="-228600">
              <a:lnSpc>
                <a:spcPct val="90000"/>
              </a:lnSpc>
              <a:spcAft>
                <a:spcPts val="600"/>
              </a:spcAft>
              <a:buFont typeface="Arial" panose="020B0604020202020204" pitchFamily="34" charset="0"/>
              <a:buChar char="•"/>
            </a:pPr>
            <a:r>
              <a:rPr lang="en-US" sz="2000"/>
              <a:t>Với các sequence_length lần lượt là: 1, 5, 10, 30. Đối với sequence_length khác 1, kết quả </a:t>
            </a:r>
            <a:r>
              <a:rPr lang="vi-VN" sz="2000"/>
              <a:t>cần dự đoán là vòng đời tại dòng cuối của sequence _length</a:t>
            </a:r>
          </a:p>
          <a:p>
            <a:pPr marL="342900" indent="-228600">
              <a:lnSpc>
                <a:spcPct val="90000"/>
              </a:lnSpc>
              <a:spcAft>
                <a:spcPts val="600"/>
              </a:spcAft>
              <a:buFont typeface="Arial" panose="020B0604020202020204" pitchFamily="34" charset="0"/>
              <a:buChar char="•"/>
            </a:pPr>
            <a:r>
              <a:rPr lang="vi-VN" sz="2000"/>
              <a:t>Chuẩn hóa dữ liệu phương pháp MinmaxScaler</a:t>
            </a:r>
            <a:endParaRPr lang="en-US" sz="2000"/>
          </a:p>
        </p:txBody>
      </p:sp>
      <p:pic>
        <p:nvPicPr>
          <p:cNvPr id="5" name="Picture 4">
            <a:extLst>
              <a:ext uri="{FF2B5EF4-FFF2-40B4-BE49-F238E27FC236}">
                <a16:creationId xmlns:a16="http://schemas.microsoft.com/office/drawing/2014/main" id="{BC64A15D-F65E-3B4E-D515-D792AE8306CB}"/>
              </a:ext>
            </a:extLst>
          </p:cNvPr>
          <p:cNvPicPr>
            <a:picLocks noChangeAspect="1"/>
          </p:cNvPicPr>
          <p:nvPr/>
        </p:nvPicPr>
        <p:blipFill>
          <a:blip r:embed="rId2"/>
          <a:stretch>
            <a:fillRect/>
          </a:stretch>
        </p:blipFill>
        <p:spPr>
          <a:xfrm>
            <a:off x="6604038" y="1568654"/>
            <a:ext cx="5437453" cy="4621834"/>
          </a:xfrm>
          <a:prstGeom prst="rect">
            <a:avLst/>
          </a:prstGeom>
        </p:spPr>
      </p:pic>
    </p:spTree>
    <p:extLst>
      <p:ext uri="{BB962C8B-B14F-4D97-AF65-F5344CB8AC3E}">
        <p14:creationId xmlns:p14="http://schemas.microsoft.com/office/powerpoint/2010/main" val="2562624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E2AA263-784F-E9A6-99DE-703BFD3E730B}"/>
              </a:ext>
            </a:extLst>
          </p:cNvPr>
          <p:cNvSpPr txBox="1"/>
          <p:nvPr/>
        </p:nvSpPr>
        <p:spPr>
          <a:xfrm>
            <a:off x="638882" y="639193"/>
            <a:ext cx="3571810" cy="357351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Kết quả</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79D4791-E9FC-C176-11B5-2AE209D42EA5}"/>
              </a:ext>
            </a:extLst>
          </p:cNvPr>
          <p:cNvPicPr>
            <a:picLocks noChangeAspect="1"/>
          </p:cNvPicPr>
          <p:nvPr/>
        </p:nvPicPr>
        <p:blipFill>
          <a:blip r:embed="rId2"/>
          <a:stretch>
            <a:fillRect/>
          </a:stretch>
        </p:blipFill>
        <p:spPr>
          <a:xfrm>
            <a:off x="4654296" y="854095"/>
            <a:ext cx="7214616" cy="5122377"/>
          </a:xfrm>
          <a:prstGeom prst="rect">
            <a:avLst/>
          </a:prstGeom>
        </p:spPr>
      </p:pic>
    </p:spTree>
    <p:extLst>
      <p:ext uri="{BB962C8B-B14F-4D97-AF65-F5344CB8AC3E}">
        <p14:creationId xmlns:p14="http://schemas.microsoft.com/office/powerpoint/2010/main" val="4294744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2DF629-CEB8-2525-E91F-C71BF0A5DB2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43536A7-C462-2BBF-DF89-B6AF7FA4A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AD09FC0-46A2-8C02-5EB1-A5DF2527A0FA}"/>
              </a:ext>
            </a:extLst>
          </p:cNvPr>
          <p:cNvSpPr txBox="1"/>
          <p:nvPr/>
        </p:nvSpPr>
        <p:spPr>
          <a:xfrm>
            <a:off x="638882" y="639193"/>
            <a:ext cx="3571810" cy="357351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Kết quả</a:t>
            </a:r>
          </a:p>
        </p:txBody>
      </p:sp>
      <p:sp>
        <p:nvSpPr>
          <p:cNvPr id="11" name="sketch line">
            <a:extLst>
              <a:ext uri="{FF2B5EF4-FFF2-40B4-BE49-F238E27FC236}">
                <a16:creationId xmlns:a16="http://schemas.microsoft.com/office/drawing/2014/main" id="{3B572AE9-6885-2E21-D5F4-A3D36F4D7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7DB6C8E-9068-208D-BCD3-CBAD66AA2031}"/>
              </a:ext>
            </a:extLst>
          </p:cNvPr>
          <p:cNvPicPr>
            <a:picLocks noChangeAspect="1"/>
          </p:cNvPicPr>
          <p:nvPr/>
        </p:nvPicPr>
        <p:blipFill>
          <a:blip r:embed="rId2"/>
          <a:stretch>
            <a:fillRect/>
          </a:stretch>
        </p:blipFill>
        <p:spPr>
          <a:xfrm>
            <a:off x="4329607" y="833848"/>
            <a:ext cx="7303405" cy="5190304"/>
          </a:xfrm>
          <a:prstGeom prst="rect">
            <a:avLst/>
          </a:prstGeom>
        </p:spPr>
      </p:pic>
    </p:spTree>
    <p:extLst>
      <p:ext uri="{BB962C8B-B14F-4D97-AF65-F5344CB8AC3E}">
        <p14:creationId xmlns:p14="http://schemas.microsoft.com/office/powerpoint/2010/main" val="1367087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EE1C22-33F4-F20E-6CF8-C0EB7B02B5C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1C1CD1-13E4-C124-B5B5-C32C183E7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ADC82B3-CB40-B234-5A4C-27FD03E56B18}"/>
              </a:ext>
            </a:extLst>
          </p:cNvPr>
          <p:cNvSpPr txBox="1"/>
          <p:nvPr/>
        </p:nvSpPr>
        <p:spPr>
          <a:xfrm>
            <a:off x="638882" y="639193"/>
            <a:ext cx="3571810" cy="3573516"/>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Kết quả</a:t>
            </a:r>
          </a:p>
        </p:txBody>
      </p:sp>
      <p:sp>
        <p:nvSpPr>
          <p:cNvPr id="11" name="sketch line">
            <a:extLst>
              <a:ext uri="{FF2B5EF4-FFF2-40B4-BE49-F238E27FC236}">
                <a16:creationId xmlns:a16="http://schemas.microsoft.com/office/drawing/2014/main" id="{79A22CCF-29AD-8FE0-384F-1B4BB6D0D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4633149-AC88-3CA2-3B24-82E3BE0D8B2C}"/>
              </a:ext>
            </a:extLst>
          </p:cNvPr>
          <p:cNvPicPr>
            <a:picLocks noChangeAspect="1"/>
          </p:cNvPicPr>
          <p:nvPr/>
        </p:nvPicPr>
        <p:blipFill>
          <a:blip r:embed="rId2"/>
          <a:stretch>
            <a:fillRect/>
          </a:stretch>
        </p:blipFill>
        <p:spPr>
          <a:xfrm>
            <a:off x="4210692" y="808878"/>
            <a:ext cx="7503072" cy="4914512"/>
          </a:xfrm>
          <a:prstGeom prst="rect">
            <a:avLst/>
          </a:prstGeom>
        </p:spPr>
      </p:pic>
    </p:spTree>
    <p:extLst>
      <p:ext uri="{BB962C8B-B14F-4D97-AF65-F5344CB8AC3E}">
        <p14:creationId xmlns:p14="http://schemas.microsoft.com/office/powerpoint/2010/main" val="412502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DC2F03-13F7-8015-3194-9F07762E774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DBC445-6736-718C-4593-AC60D6FD6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AF216DE-B216-CE63-9415-5379B9562000}"/>
              </a:ext>
            </a:extLst>
          </p:cNvPr>
          <p:cNvSpPr txBox="1"/>
          <p:nvPr/>
        </p:nvSpPr>
        <p:spPr>
          <a:xfrm>
            <a:off x="643278" y="3067248"/>
            <a:ext cx="2520331" cy="1017564"/>
          </a:xfrm>
          <a:prstGeom prst="rect">
            <a:avLst/>
          </a:prstGeom>
        </p:spPr>
        <p:txBody>
          <a:bodyPr vert="horz" lIns="91440" tIns="45720" rIns="91440" bIns="45720" rtlCol="0" anchor="b">
            <a:normAutofit fontScale="85000" lnSpcReduction="10000"/>
          </a:bodyPr>
          <a:lstStyle/>
          <a:p>
            <a:pPr>
              <a:lnSpc>
                <a:spcPct val="90000"/>
              </a:lnSpc>
              <a:spcBef>
                <a:spcPct val="0"/>
              </a:spcBef>
              <a:spcAft>
                <a:spcPts val="600"/>
              </a:spcAft>
            </a:pPr>
            <a:r>
              <a:rPr lang="en-US" sz="6600" b="1" kern="1200">
                <a:solidFill>
                  <a:schemeClr val="tx1"/>
                </a:solidFill>
                <a:latin typeface="+mj-lt"/>
                <a:ea typeface="+mj-ea"/>
                <a:cs typeface="+mj-cs"/>
              </a:rPr>
              <a:t>Kết quả</a:t>
            </a:r>
          </a:p>
        </p:txBody>
      </p:sp>
      <p:sp>
        <p:nvSpPr>
          <p:cNvPr id="11" name="sketch line">
            <a:extLst>
              <a:ext uri="{FF2B5EF4-FFF2-40B4-BE49-F238E27FC236}">
                <a16:creationId xmlns:a16="http://schemas.microsoft.com/office/drawing/2014/main" id="{B297F0A6-82EE-F736-F923-11FA27695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27063AD-5E0B-2213-2167-2D765AC8FD3F}"/>
              </a:ext>
            </a:extLst>
          </p:cNvPr>
          <p:cNvPicPr>
            <a:picLocks noChangeAspect="1"/>
          </p:cNvPicPr>
          <p:nvPr/>
        </p:nvPicPr>
        <p:blipFill>
          <a:blip r:embed="rId2"/>
          <a:stretch>
            <a:fillRect/>
          </a:stretch>
        </p:blipFill>
        <p:spPr>
          <a:xfrm>
            <a:off x="3415613" y="1092382"/>
            <a:ext cx="8524383" cy="5403056"/>
          </a:xfrm>
          <a:prstGeom prst="rect">
            <a:avLst/>
          </a:prstGeom>
        </p:spPr>
      </p:pic>
    </p:spTree>
    <p:extLst>
      <p:ext uri="{BB962C8B-B14F-4D97-AF65-F5344CB8AC3E}">
        <p14:creationId xmlns:p14="http://schemas.microsoft.com/office/powerpoint/2010/main" val="238032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F116B6-6A30-1342-CC70-4C70F11129AB}"/>
            </a:ext>
          </a:extLst>
        </p:cNvPr>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542AA96-C968-058F-96B9-26B097B708BD}"/>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kern="1200">
                <a:solidFill>
                  <a:srgbClr val="FFFFFF"/>
                </a:solidFill>
                <a:latin typeface="+mj-lt"/>
                <a:ea typeface="+mj-ea"/>
                <a:cs typeface="+mj-cs"/>
              </a:rPr>
              <a:t>Kết quả</a:t>
            </a:r>
          </a:p>
          <a:p>
            <a:pPr algn="ctr">
              <a:lnSpc>
                <a:spcPct val="90000"/>
              </a:lnSpc>
              <a:spcBef>
                <a:spcPct val="0"/>
              </a:spcBef>
              <a:spcAft>
                <a:spcPts val="600"/>
              </a:spcAft>
            </a:pPr>
            <a:r>
              <a:rPr lang="en-US" sz="3600" b="1" kern="1200">
                <a:solidFill>
                  <a:srgbClr val="FFFFFF"/>
                </a:solidFill>
                <a:latin typeface="+mj-lt"/>
                <a:ea typeface="+mj-ea"/>
                <a:cs typeface="+mj-cs"/>
              </a:rPr>
              <a:t>Dự báo</a:t>
            </a:r>
          </a:p>
        </p:txBody>
      </p:sp>
      <p:pic>
        <p:nvPicPr>
          <p:cNvPr id="3" name="Picture 2">
            <a:extLst>
              <a:ext uri="{FF2B5EF4-FFF2-40B4-BE49-F238E27FC236}">
                <a16:creationId xmlns:a16="http://schemas.microsoft.com/office/drawing/2014/main" id="{9F8D4DC6-9E25-6540-8167-BD1AF329EAC5}"/>
              </a:ext>
            </a:extLst>
          </p:cNvPr>
          <p:cNvPicPr>
            <a:picLocks noChangeAspect="1"/>
          </p:cNvPicPr>
          <p:nvPr/>
        </p:nvPicPr>
        <p:blipFill>
          <a:blip r:embed="rId2"/>
          <a:stretch>
            <a:fillRect/>
          </a:stretch>
        </p:blipFill>
        <p:spPr>
          <a:xfrm>
            <a:off x="4777316" y="1249535"/>
            <a:ext cx="6780700" cy="4356600"/>
          </a:xfrm>
          <a:prstGeom prst="rect">
            <a:avLst/>
          </a:prstGeom>
        </p:spPr>
      </p:pic>
    </p:spTree>
    <p:extLst>
      <p:ext uri="{BB962C8B-B14F-4D97-AF65-F5344CB8AC3E}">
        <p14:creationId xmlns:p14="http://schemas.microsoft.com/office/powerpoint/2010/main" val="2021569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266043-1C00-F223-8351-9F458919006F}"/>
              </a:ext>
            </a:extLst>
          </p:cNvPr>
          <p:cNvSpPr txBox="1"/>
          <p:nvPr/>
        </p:nvSpPr>
        <p:spPr>
          <a:xfrm>
            <a:off x="3746101" y="147144"/>
            <a:ext cx="5891356" cy="523220"/>
          </a:xfrm>
          <a:prstGeom prst="rect">
            <a:avLst/>
          </a:prstGeom>
          <a:noFill/>
        </p:spPr>
        <p:txBody>
          <a:bodyPr wrap="none" rtlCol="0">
            <a:spAutoFit/>
          </a:bodyPr>
          <a:lstStyle/>
          <a:p>
            <a:r>
              <a:rPr lang="vi-VN" sz="2800" b="1"/>
              <a:t>Áp dụng XAI – Biểu đồ Summary</a:t>
            </a:r>
          </a:p>
        </p:txBody>
      </p:sp>
      <p:pic>
        <p:nvPicPr>
          <p:cNvPr id="4" name="Picture 3">
            <a:extLst>
              <a:ext uri="{FF2B5EF4-FFF2-40B4-BE49-F238E27FC236}">
                <a16:creationId xmlns:a16="http://schemas.microsoft.com/office/drawing/2014/main" id="{34BC26BB-E908-7D6D-89FE-413BBE15749B}"/>
              </a:ext>
            </a:extLst>
          </p:cNvPr>
          <p:cNvPicPr>
            <a:picLocks noChangeAspect="1"/>
          </p:cNvPicPr>
          <p:nvPr/>
        </p:nvPicPr>
        <p:blipFill>
          <a:blip r:embed="rId2"/>
          <a:stretch>
            <a:fillRect/>
          </a:stretch>
        </p:blipFill>
        <p:spPr>
          <a:xfrm>
            <a:off x="1049200" y="995960"/>
            <a:ext cx="4581442" cy="5607494"/>
          </a:xfrm>
          <a:prstGeom prst="rect">
            <a:avLst/>
          </a:prstGeom>
        </p:spPr>
      </p:pic>
      <p:pic>
        <p:nvPicPr>
          <p:cNvPr id="8" name="Picture 7">
            <a:extLst>
              <a:ext uri="{FF2B5EF4-FFF2-40B4-BE49-F238E27FC236}">
                <a16:creationId xmlns:a16="http://schemas.microsoft.com/office/drawing/2014/main" id="{6A51B6DD-7D14-7058-71E8-08247ED72B2E}"/>
              </a:ext>
            </a:extLst>
          </p:cNvPr>
          <p:cNvPicPr>
            <a:picLocks noChangeAspect="1"/>
          </p:cNvPicPr>
          <p:nvPr/>
        </p:nvPicPr>
        <p:blipFill>
          <a:blip r:embed="rId3"/>
          <a:stretch>
            <a:fillRect/>
          </a:stretch>
        </p:blipFill>
        <p:spPr>
          <a:xfrm>
            <a:off x="6691779" y="880571"/>
            <a:ext cx="4675717" cy="5722883"/>
          </a:xfrm>
          <a:prstGeom prst="rect">
            <a:avLst/>
          </a:prstGeom>
        </p:spPr>
      </p:pic>
    </p:spTree>
    <p:extLst>
      <p:ext uri="{BB962C8B-B14F-4D97-AF65-F5344CB8AC3E}">
        <p14:creationId xmlns:p14="http://schemas.microsoft.com/office/powerpoint/2010/main" val="1743139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C9E8-C032-4EA8-B065-98138907EB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56DF7A-D007-9C23-0347-C3178B9936EB}"/>
              </a:ext>
            </a:extLst>
          </p:cNvPr>
          <p:cNvSpPr txBox="1"/>
          <p:nvPr/>
        </p:nvSpPr>
        <p:spPr>
          <a:xfrm>
            <a:off x="3746101" y="147144"/>
            <a:ext cx="5660011" cy="523220"/>
          </a:xfrm>
          <a:prstGeom prst="rect">
            <a:avLst/>
          </a:prstGeom>
          <a:noFill/>
        </p:spPr>
        <p:txBody>
          <a:bodyPr wrap="none" rtlCol="0">
            <a:spAutoFit/>
          </a:bodyPr>
          <a:lstStyle/>
          <a:p>
            <a:r>
              <a:rPr lang="vi-VN" sz="2800" b="1"/>
              <a:t>Áp dụng XAI – Biểu đồ Waterfall</a:t>
            </a:r>
          </a:p>
        </p:txBody>
      </p:sp>
      <p:pic>
        <p:nvPicPr>
          <p:cNvPr id="5" name="Picture 4">
            <a:extLst>
              <a:ext uri="{FF2B5EF4-FFF2-40B4-BE49-F238E27FC236}">
                <a16:creationId xmlns:a16="http://schemas.microsoft.com/office/drawing/2014/main" id="{0AA87785-A78B-615D-31A0-8F0F40152F89}"/>
              </a:ext>
            </a:extLst>
          </p:cNvPr>
          <p:cNvPicPr>
            <a:picLocks noChangeAspect="1"/>
          </p:cNvPicPr>
          <p:nvPr/>
        </p:nvPicPr>
        <p:blipFill>
          <a:blip r:embed="rId2"/>
          <a:stretch>
            <a:fillRect/>
          </a:stretch>
        </p:blipFill>
        <p:spPr>
          <a:xfrm>
            <a:off x="98042" y="1571386"/>
            <a:ext cx="5440129" cy="3747506"/>
          </a:xfrm>
          <a:prstGeom prst="rect">
            <a:avLst/>
          </a:prstGeom>
        </p:spPr>
      </p:pic>
      <p:pic>
        <p:nvPicPr>
          <p:cNvPr id="7" name="Picture 6">
            <a:extLst>
              <a:ext uri="{FF2B5EF4-FFF2-40B4-BE49-F238E27FC236}">
                <a16:creationId xmlns:a16="http://schemas.microsoft.com/office/drawing/2014/main" id="{2F83D047-DB4C-A5E4-A966-DA34338F1FDE}"/>
              </a:ext>
            </a:extLst>
          </p:cNvPr>
          <p:cNvPicPr>
            <a:picLocks noChangeAspect="1"/>
          </p:cNvPicPr>
          <p:nvPr/>
        </p:nvPicPr>
        <p:blipFill>
          <a:blip r:embed="rId3"/>
          <a:stretch>
            <a:fillRect/>
          </a:stretch>
        </p:blipFill>
        <p:spPr>
          <a:xfrm>
            <a:off x="6096000" y="1265839"/>
            <a:ext cx="5997958" cy="4131774"/>
          </a:xfrm>
          <a:prstGeom prst="rect">
            <a:avLst/>
          </a:prstGeom>
        </p:spPr>
      </p:pic>
    </p:spTree>
    <p:extLst>
      <p:ext uri="{BB962C8B-B14F-4D97-AF65-F5344CB8AC3E}">
        <p14:creationId xmlns:p14="http://schemas.microsoft.com/office/powerpoint/2010/main" val="483978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6E4FB-6BA3-58A0-D410-584EFF606A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D8E2C3-CC7A-52B3-B100-6FD4805EC705}"/>
              </a:ext>
            </a:extLst>
          </p:cNvPr>
          <p:cNvSpPr txBox="1"/>
          <p:nvPr/>
        </p:nvSpPr>
        <p:spPr>
          <a:xfrm>
            <a:off x="3359602" y="0"/>
            <a:ext cx="6559296" cy="523220"/>
          </a:xfrm>
          <a:prstGeom prst="rect">
            <a:avLst/>
          </a:prstGeom>
          <a:noFill/>
        </p:spPr>
        <p:txBody>
          <a:bodyPr wrap="none" rtlCol="0">
            <a:spAutoFit/>
          </a:bodyPr>
          <a:lstStyle/>
          <a:p>
            <a:r>
              <a:rPr lang="vi-VN" sz="2800" b="1"/>
              <a:t>Áp dụng XAI – Biểu đồ Attention map</a:t>
            </a:r>
          </a:p>
        </p:txBody>
      </p:sp>
      <p:pic>
        <p:nvPicPr>
          <p:cNvPr id="4" name="Picture 3">
            <a:extLst>
              <a:ext uri="{FF2B5EF4-FFF2-40B4-BE49-F238E27FC236}">
                <a16:creationId xmlns:a16="http://schemas.microsoft.com/office/drawing/2014/main" id="{39A03FD6-A45F-F9B1-EF6E-21ACB5F2F6B2}"/>
              </a:ext>
            </a:extLst>
          </p:cNvPr>
          <p:cNvPicPr>
            <a:picLocks noChangeAspect="1"/>
          </p:cNvPicPr>
          <p:nvPr/>
        </p:nvPicPr>
        <p:blipFill>
          <a:blip r:embed="rId2"/>
          <a:stretch>
            <a:fillRect/>
          </a:stretch>
        </p:blipFill>
        <p:spPr>
          <a:xfrm>
            <a:off x="0" y="528959"/>
            <a:ext cx="12192000" cy="2377727"/>
          </a:xfrm>
          <a:prstGeom prst="rect">
            <a:avLst/>
          </a:prstGeom>
        </p:spPr>
      </p:pic>
      <p:pic>
        <p:nvPicPr>
          <p:cNvPr id="8" name="Picture 7">
            <a:extLst>
              <a:ext uri="{FF2B5EF4-FFF2-40B4-BE49-F238E27FC236}">
                <a16:creationId xmlns:a16="http://schemas.microsoft.com/office/drawing/2014/main" id="{C6896EC7-1D3C-37E9-DF63-FB45457719DF}"/>
              </a:ext>
            </a:extLst>
          </p:cNvPr>
          <p:cNvPicPr>
            <a:picLocks noChangeAspect="1"/>
          </p:cNvPicPr>
          <p:nvPr/>
        </p:nvPicPr>
        <p:blipFill>
          <a:blip r:embed="rId3"/>
          <a:stretch>
            <a:fillRect/>
          </a:stretch>
        </p:blipFill>
        <p:spPr>
          <a:xfrm>
            <a:off x="0" y="2754453"/>
            <a:ext cx="12192000" cy="2390588"/>
          </a:xfrm>
          <a:prstGeom prst="rect">
            <a:avLst/>
          </a:prstGeom>
        </p:spPr>
      </p:pic>
      <p:pic>
        <p:nvPicPr>
          <p:cNvPr id="10" name="Picture 9">
            <a:extLst>
              <a:ext uri="{FF2B5EF4-FFF2-40B4-BE49-F238E27FC236}">
                <a16:creationId xmlns:a16="http://schemas.microsoft.com/office/drawing/2014/main" id="{EEB9D87A-2320-B3E3-67B5-E3F5C1B08C52}"/>
              </a:ext>
            </a:extLst>
          </p:cNvPr>
          <p:cNvPicPr>
            <a:picLocks noChangeAspect="1"/>
          </p:cNvPicPr>
          <p:nvPr/>
        </p:nvPicPr>
        <p:blipFill>
          <a:blip r:embed="rId4"/>
          <a:stretch>
            <a:fillRect/>
          </a:stretch>
        </p:blipFill>
        <p:spPr>
          <a:xfrm>
            <a:off x="0" y="5132180"/>
            <a:ext cx="12192000" cy="2380929"/>
          </a:xfrm>
          <a:prstGeom prst="rect">
            <a:avLst/>
          </a:prstGeom>
        </p:spPr>
      </p:pic>
    </p:spTree>
    <p:extLst>
      <p:ext uri="{BB962C8B-B14F-4D97-AF65-F5344CB8AC3E}">
        <p14:creationId xmlns:p14="http://schemas.microsoft.com/office/powerpoint/2010/main" val="987842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294</Words>
  <Application>Microsoft Office PowerPoint</Application>
  <PresentationFormat>Widescreen</PresentationFormat>
  <Paragraphs>28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Úc Ngô Văn</dc:creator>
  <cp:lastModifiedBy>Úc Ngô Văn</cp:lastModifiedBy>
  <cp:revision>42</cp:revision>
  <dcterms:created xsi:type="dcterms:W3CDTF">2024-12-01T16:09:21Z</dcterms:created>
  <dcterms:modified xsi:type="dcterms:W3CDTF">2025-02-12T09:14:23Z</dcterms:modified>
</cp:coreProperties>
</file>